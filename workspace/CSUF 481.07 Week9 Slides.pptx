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sldIdLst>
    <p:sldId id="33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6"/>
    <p:restoredTop sz="92832"/>
  </p:normalViewPr>
  <p:slideViewPr>
    <p:cSldViewPr snapToGrid="0" snapToObjects="1">
      <p:cViewPr varScale="1">
        <p:scale>
          <a:sx n="132" d="100"/>
          <a:sy n="132" d="100"/>
        </p:scale>
        <p:origin x="25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033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Establishing the focus on quality and reliability in ML. HOW: Transitioning from basic induction to rigorous assessment. WHAT: Overview of Week 9. WHEN: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Structuring the 3-hour session. HOW: Breaking down Chapter 19.3-19.5. WHAT: Roadmap. WHEN: Start of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Reviewing core concepts from Week 8. HOW: Contrasting memorization with learning. WHAT: Recap. WHEN: Review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Real-world data is rarely perfect. HOW: Addressing specific technical hurdles in tree induction. WHAT: Section 19.3 intro. WHEN: Technical deep-dive.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Preventing "cheap" splits. HOW: Discussing the flaw in standard Information Gain. WHAT: Multi-value bias. WHEN: Attribute selection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Mathematical normalization. HOW: Dividing Gain by SplitInfo. WHAT: Gain Ratio. WHEN: Advanced math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Dealing with sparse data. HOW: Using plurality or fractional weights. WHAT: Missing data handling. WHEN: Data cleaning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Adapting logic to numbers. HOW: Creating binary splits ($x &lt; 70$). WHAT: Discretization. WHEN: Feature engineering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Defense against overfitting. HOW: Using statistical significance tests. WHAT: Pruning. WHEN: Optimization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Alternative to tree structures. HOW: Rule simplification. WHAT: Rule Pruning. WHEN: Advanced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Establishing scientific methodology. HOW: Data partitioning. WHAT: Model Evaluation. WHEN: Methodology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Role of intermediate data. HOW: Preventing hyperparameter leakage. WHAT: Validation. WHEN: Methodology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Efficiency with small data. HOW: Rotating train/test assignments. WHAT: Cross-Validation. WHEN: Core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Maximum data usage. HOW: N-fold rotation. WHAT: LOOCV. WHEN: Edge case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The most important chart in ML. HOW: Decomposing the error source. WHAT: Bias-Variance. WHEN: Theoretical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Intuitive understanding. HOW: Target practice analogy. WHAT: Visualizing Error. WHEN: Theory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Identifying failure. HOW: High error on both sets. WHAT: Underfitting. WHEN: Diagnostics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Identifying failure. HOW: Gap between train/test error. WHAT: Overfitting. WHEN: Diagnostics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Practical engineering tool. HOW: Reading the "Happy Graph." WHAT: Diagnostics. WHEN: Practical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Mathematical guarantees. HOW: Probabilistic bounds. WHAT: PAC Learning. WHEN: Theory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Understanding data requirements. HOW: Setting epsilon and delta. WHAT: PAC. WHEN: Theoretical deep-dive.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Quantifying complexity. HOW: Shattering points. WHAT: VC Dimension. WHEN: Advanced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Real-world success metrics. HOW: Critiquing simple accuracy. WHAT: Metrics. WHEN: Measurement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The baseline for all metrics. HOW: Tabulating results. WHAT: Confusion Matrix. WHEN: Metric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Quality control. HOW: Ratio of true to predicted positive. WHAT: Precision. WHEN: Metric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Safety/Completeness. HOW: Ratio of true to actual positive. WHAT: Recall. WHEN: Metric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Balancing objectives. HOW: Harmonic mean formula. WHAT: F1 Score. WHEN: Advanced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Negative case accuracy. HOW: Ratio of true to actual negatives. WHAT: Specificity. WHEN: Medical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Comparing model potential. HOW: Graphing thresholds. WHAT: ROC/AUC. WHEN: Practical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Business/Engineering logic. HOW: Weighting the loss function. WHAT: Cost metrics. WHEN: Ethics/Practicality.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Standard Operating Procedure. HOW: Step-by-step workflow. WHAT: Selection. WHEN: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Designer's responsibility. HOW: Distinguishing auto-learned vs. hand-tuned. WHAT: Hyperparameters. WHEN: Practical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Scaling performance. HOW: Previewing advanced learning. WHAT: Ensembles. WHEN: Looking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Professional responsibility. HOW: Subgroup analysis. WHAT: Algorithmic Fairness. WHEN: Ethics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Consolidating knowledge. HOW: Recapping the big ideas. WHAT: Summary. WHEN: Final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Practical application. HOW: Manual calculation. WHAT: Assignment. WHEN: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Connecting to Week 10. HOW: Transitioning paradigms. WHAT: Preview. WHEN: Final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Hands-on skills. HOW: Tooling intro. WHAT: Lab prep. WHEN: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Student feedback. HOW: Open discussion. WHAT: Review. WHEN: Final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WHY: Closing statement. HOW: Final takeaway. WHAT: Conclusion. WHEN: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D85334-650A-4DCC-8878-768E494DF62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2962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4673FC-9E5E-4A0E-8A35-092C72E712D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02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A6AF85-4188-4CD0-866E-283DCD2C680F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75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BFD6A7-50DA-4A1D-B074-B3AFF477440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260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CCF301-F548-4817-93BC-84033E4A2344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133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8F2063-4082-4C93-9879-68C454E853E9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16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AB0778-A83C-44C2-8FFA-09697FE349FD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97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816674-F2A3-47FB-977D-016AA25D4473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55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FAD7F-99A1-4A75-B1E3-8576D067546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468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6BF820-52C3-4A45-B01B-C780ADDC83A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143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C1C46-A1BA-4573-B605-C062EED53F8A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9F33D8-5447-47F5-B4F9-489CB73D7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891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04A56B-B99B-43B8-9DE0-40BC64CEDEE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D96950-646D-4C61-ACE5-9A561975C4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448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F8CE4C-A270-4B85-B7AB-13EB9F9B6962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3/9/26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B9AC4270-FE70-48E2-AE33-07357F6537CD}" type="slidenum">
              <a:rPr lang="en-US" smtClean="0">
                <a:latin typeface="Calibri"/>
                <a:cs typeface="+mn-cs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82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9654"/>
            <a:ext cx="7772400" cy="1470025"/>
          </a:xfrm>
        </p:spPr>
        <p:txBody>
          <a:bodyPr/>
          <a:lstStyle/>
          <a:p>
            <a:r>
              <a:rPr lang="en-US" dirty="0"/>
              <a:t>CPSC 481</a:t>
            </a:r>
            <a:br>
              <a:rPr lang="en-US" dirty="0"/>
            </a:br>
            <a:r>
              <a:rPr lang="en-US" dirty="0"/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49679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/>
              <a:t>Chuck Chekuri</a:t>
            </a:r>
          </a:p>
          <a:p>
            <a:r>
              <a:rPr lang="en-US" dirty="0" err="1"/>
              <a:t>cchekuri@fullerton.edu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9F33D8-5447-47F5-B4F9-489CB73D74D3}" type="slidenum">
              <a:rPr lang="en-US" noProof="0" smtClean="0"/>
              <a:pPr lvl="0"/>
              <a:t>1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75BC8A-AF5C-8D5D-EDB9-95B6D07F4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17" y="3297329"/>
            <a:ext cx="2182851" cy="25481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B98CA9-C372-400B-31F0-9647DBD7B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575" y="3297329"/>
            <a:ext cx="2175246" cy="2548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564B05-1CA9-BF99-D096-7B943881E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895" y="3236215"/>
            <a:ext cx="2182852" cy="259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17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5732"/>
            <a:ext cx="7772400" cy="1470025"/>
          </a:xfrm>
        </p:spPr>
        <p:txBody>
          <a:bodyPr/>
          <a:lstStyle/>
          <a:p>
            <a:r>
              <a:rPr dirty="0"/>
              <a:t>Week 9: Supervised Learning &amp;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863" y="2637263"/>
            <a:ext cx="8129239" cy="2804532"/>
          </a:xfrm>
        </p:spPr>
        <p:txBody>
          <a:bodyPr>
            <a:normAutofit/>
          </a:bodyPr>
          <a:lstStyle/>
          <a:p>
            <a:pPr algn="l"/>
            <a:endParaRPr sz="1800" dirty="0"/>
          </a:p>
          <a:p>
            <a:pPr lvl="1" algn="l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Moving from "How to Learn" to "How to Evaluate."</a:t>
            </a:r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 algn="l"/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 Deep dive into Decision Tree optimization.</a:t>
            </a:r>
          </a:p>
          <a:p>
            <a:pPr lvl="1" algn="l"/>
            <a:r>
              <a:rPr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• The methodology of Model Selection.</a:t>
            </a:r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 algn="l"/>
            <a:r>
              <a:rPr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• Understanding the Bias-Variance Tradeoff.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9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Part 1: Advanced Decision Trees (Pruning, Missing Values).</a:t>
            </a:r>
          </a:p>
          <a:p>
            <a:r>
              <a:rPr dirty="0"/>
              <a:t>Part 2: Evaluating Hypotheses (Cross-Validation).</a:t>
            </a:r>
          </a:p>
          <a:p>
            <a:r>
              <a:rPr dirty="0"/>
              <a:t>Part 3: Learning Theory (Generalization &amp; PAC Learning).</a:t>
            </a:r>
          </a:p>
          <a:p>
            <a:r>
              <a:rPr dirty="0"/>
              <a:t>Part 4: Performance Metrics (Confusion Matrices). 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Recap: The Goal of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 have a training set of (x, y) pairs.</a:t>
            </a:r>
          </a:p>
          <a:p>
            <a:r>
              <a:rPr dirty="0"/>
              <a:t>We search for a hypothesis 'h' that generalizes.</a:t>
            </a:r>
          </a:p>
          <a:p>
            <a:r>
              <a:rPr dirty="0"/>
              <a:t>Consistency vs. Generalization.</a:t>
            </a:r>
          </a:p>
          <a:p>
            <a:r>
              <a:rPr dirty="0"/>
              <a:t>Why 100% training accuracy is often a red flag.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Section 19.3: Optimizing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Handling Broad Data: Attributes with many values.</a:t>
            </a:r>
          </a:p>
          <a:p>
            <a:r>
              <a:rPr dirty="0"/>
              <a:t>Handling Incomplete Data: Missing values in examples.</a:t>
            </a:r>
          </a:p>
          <a:p>
            <a:r>
              <a:rPr dirty="0"/>
              <a:t>Handling Precision: Continuous-valued attributes.</a:t>
            </a:r>
          </a:p>
          <a:p>
            <a:r>
              <a:rPr dirty="0"/>
              <a:t>Handling Noise: Tree Pruning techniques.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The Problem with Many-Valued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Attributes like '</a:t>
            </a:r>
            <a:r>
              <a:rPr dirty="0" err="1"/>
              <a:t>ExactTime</a:t>
            </a:r>
            <a:r>
              <a:rPr dirty="0"/>
              <a:t>' or '</a:t>
            </a:r>
            <a:r>
              <a:rPr dirty="0" err="1"/>
              <a:t>IDNumber</a:t>
            </a:r>
            <a:r>
              <a:rPr dirty="0"/>
              <a:t>' have high Information Gain.</a:t>
            </a:r>
          </a:p>
          <a:p>
            <a:r>
              <a:rPr dirty="0"/>
              <a:t>But they create "Pure" leaves that are useless for prediction.</a:t>
            </a:r>
          </a:p>
          <a:p>
            <a:r>
              <a:rPr dirty="0"/>
              <a:t>Result: Perfect training fit, zero generalization.</a:t>
            </a:r>
          </a:p>
          <a:p>
            <a:r>
              <a:rPr dirty="0"/>
              <a:t>We need a way to penalize "too many" branches.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Gain Ratio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Solution: Normalize Information Gain by the "Intrinsic Information."</a:t>
            </a:r>
          </a:p>
          <a:p>
            <a:r>
              <a:rPr dirty="0"/>
              <a:t>Intrinsic Info: The entropy of the attribute values themselves.</a:t>
            </a:r>
          </a:p>
          <a:p>
            <a:r>
              <a:rPr dirty="0"/>
              <a:t>High branching factor = Higher penalty.</a:t>
            </a:r>
          </a:p>
          <a:p>
            <a:r>
              <a:rPr dirty="0"/>
              <a:t>Favors splits that are both informative and reasonably sized.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Handling Missing Values (In Training)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if an example is missing the 'Hungry' attribute?</a:t>
            </a:r>
          </a:p>
          <a:p>
            <a:r>
              <a:rPr dirty="0"/>
              <a:t>Strategy 1: Assign the most common value.</a:t>
            </a:r>
          </a:p>
          <a:p>
            <a:r>
              <a:rPr dirty="0"/>
              <a:t>Strategy 2: Assign a probability based on other examples.</a:t>
            </a:r>
          </a:p>
          <a:p>
            <a:r>
              <a:rPr dirty="0"/>
              <a:t>Strategy 3: Split the example across all branches proportionally.    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Continuous-Valued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Trees naturally split on discrete categories.</a:t>
            </a:r>
          </a:p>
          <a:p>
            <a:r>
              <a:rPr dirty="0"/>
              <a:t>For continuous (like Temperature), we must find a "Split Point."</a:t>
            </a:r>
          </a:p>
          <a:p>
            <a:r>
              <a:rPr dirty="0"/>
              <a:t>We sort values and check midpoints between different labels.</a:t>
            </a:r>
          </a:p>
          <a:p>
            <a:r>
              <a:rPr dirty="0"/>
              <a:t>A continuous attribute can be tested multiple times in one path. 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Pruning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"Pre-pruning": Stop splitting when Gain is too low.</a:t>
            </a:r>
          </a:p>
          <a:p>
            <a:r>
              <a:rPr dirty="0"/>
              <a:t>"Post-pruning": Build the full tree, then cut back.</a:t>
            </a:r>
          </a:p>
          <a:p>
            <a:r>
              <a:rPr dirty="0"/>
              <a:t>Benefit: Significantly more robust to noisy outliers.</a:t>
            </a:r>
          </a:p>
          <a:p>
            <a:r>
              <a:rPr dirty="0"/>
              <a:t>Smaller trees are also easier for human audits. 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Post-Pruning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Convert the tree into a set of IF-THEN rules.</a:t>
            </a:r>
          </a:p>
          <a:p>
            <a:r>
              <a:rPr dirty="0"/>
              <a:t>Remove specific preconditions if they don't help accuracy.</a:t>
            </a:r>
          </a:p>
          <a:p>
            <a:r>
              <a:rPr dirty="0"/>
              <a:t>Rules can be re-ordered for better interpretability.</a:t>
            </a:r>
          </a:p>
          <a:p>
            <a:r>
              <a:rPr dirty="0"/>
              <a:t>Often results in more flexible models than strict trees. 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Section 19.4: Evaluating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How do we know which model is actually the best?</a:t>
            </a:r>
          </a:p>
          <a:p>
            <a:r>
              <a:rPr dirty="0"/>
              <a:t>The Hold-out Method.</a:t>
            </a:r>
          </a:p>
          <a:p>
            <a:r>
              <a:rPr dirty="0"/>
              <a:t>The danger of "Peeking" through the Validation set.</a:t>
            </a:r>
          </a:p>
          <a:p>
            <a:r>
              <a:rPr dirty="0"/>
              <a:t>Why we need a three-way split: Train, Validate, Test.   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Validation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Training Set: Used to find the best hypothesis in $H$.</a:t>
            </a:r>
          </a:p>
          <a:p>
            <a:r>
              <a:rPr dirty="0"/>
              <a:t>Validation Set: Used to pick between different $H$ (e.g., Tree vs. Linear).</a:t>
            </a:r>
          </a:p>
          <a:p>
            <a:r>
              <a:rPr dirty="0"/>
              <a:t>Test Set: Used for the final, unbiased accuracy report.</a:t>
            </a:r>
          </a:p>
          <a:p>
            <a:r>
              <a:rPr dirty="0"/>
              <a:t>Never use the Test Set to tune your model!   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K-Fold Cross-Validation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when data is scarce.</a:t>
            </a:r>
          </a:p>
          <a:p>
            <a:r>
              <a:rPr dirty="0"/>
              <a:t>Split data into $k$ subsets (folds).</a:t>
            </a:r>
          </a:p>
          <a:p>
            <a:r>
              <a:rPr dirty="0"/>
              <a:t>Train on $k-1$ folds, test on the $k^{</a:t>
            </a:r>
            <a:r>
              <a:rPr dirty="0" err="1"/>
              <a:t>th</a:t>
            </a:r>
            <a:r>
              <a:rPr dirty="0"/>
              <a:t>}$.</a:t>
            </a:r>
          </a:p>
          <a:p>
            <a:r>
              <a:rPr dirty="0"/>
              <a:t>Repeat $k$ times and average the results.    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Leave-One-Out Cross-Validation (LOOCV)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extreme version: $k = N$.</a:t>
            </a:r>
          </a:p>
          <a:p>
            <a:r>
              <a:rPr dirty="0"/>
              <a:t>Train on every point except one; test on that one point.</a:t>
            </a:r>
          </a:p>
          <a:p>
            <a:r>
              <a:rPr dirty="0"/>
              <a:t>Computationally expensive but statistically stable.</a:t>
            </a:r>
          </a:p>
          <a:p>
            <a:r>
              <a:rPr dirty="0"/>
              <a:t>Best for very small, high-value datasets.    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Bias: Error from erroneous assumptions (Underfitting).</a:t>
            </a:r>
          </a:p>
          <a:p>
            <a:r>
              <a:rPr dirty="0"/>
              <a:t>Variance: Error from sensitivity to small fluctuations (Overfitting).</a:t>
            </a:r>
          </a:p>
          <a:p>
            <a:r>
              <a:rPr dirty="0"/>
              <a:t>There is an "Inherent Noise" we can never eliminate.</a:t>
            </a:r>
          </a:p>
          <a:p>
            <a:r>
              <a:rPr dirty="0"/>
              <a:t>Total Error = $Bias^2 + Variance + Irreducible Noise$.     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Bias vs.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Bias: The model "misses the point" (Simplistic).</a:t>
            </a:r>
          </a:p>
          <a:p>
            <a:r>
              <a:rPr dirty="0"/>
              <a:t>High Variance: The model "over-analyzes" (Complex).</a:t>
            </a:r>
          </a:p>
          <a:p>
            <a:r>
              <a:rPr dirty="0"/>
              <a:t>The Sweet Spot: Balancing complexity with data availability.</a:t>
            </a:r>
          </a:p>
          <a:p>
            <a:r>
              <a:rPr dirty="0"/>
              <a:t>[Insert Target/Bullseye Diagram]      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Underfitting (High Bias)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Occurs when the model is too simple for the data.</a:t>
            </a:r>
          </a:p>
          <a:p>
            <a:r>
              <a:rPr dirty="0"/>
              <a:t>Example: Using a straight line for a circular pattern.</a:t>
            </a:r>
          </a:p>
          <a:p>
            <a:r>
              <a:rPr dirty="0"/>
              <a:t>Training Error is high; Test Error is high.</a:t>
            </a:r>
          </a:p>
          <a:p>
            <a:r>
              <a:rPr dirty="0"/>
              <a:t>Solution: Use a more expressive hypothesis space.      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(High Variance)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Occurs when the model memorizes the training data.</a:t>
            </a:r>
          </a:p>
          <a:p>
            <a:r>
              <a:rPr dirty="0"/>
              <a:t>Example: A degree-20 polynomial for a simple line.</a:t>
            </a:r>
          </a:p>
          <a:p>
            <a:r>
              <a:rPr dirty="0"/>
              <a:t>Training Error is low; Test Error is high.</a:t>
            </a:r>
          </a:p>
          <a:p>
            <a:r>
              <a:rPr dirty="0"/>
              <a:t>Solution: More data or Regularization (Pruning).      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Curves: Diagnostics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If training and test curves are close but low: Underfitting.</a:t>
            </a:r>
          </a:p>
          <a:p>
            <a:r>
              <a:rPr dirty="0"/>
              <a:t>If there is a large gap between curves: Overfitting.</a:t>
            </a:r>
          </a:p>
          <a:p>
            <a:r>
              <a:rPr dirty="0"/>
              <a:t>If curves converge early: Adding more data won't help.</a:t>
            </a:r>
          </a:p>
          <a:p>
            <a:r>
              <a:rPr dirty="0"/>
              <a:t>If curves haven't converged: Get more data!     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19.5: Theory of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Can we prove that learning will actually happen?</a:t>
            </a:r>
          </a:p>
          <a:p>
            <a:r>
              <a:rPr dirty="0"/>
              <a:t>Computational Learning Theory (COLT).</a:t>
            </a:r>
          </a:p>
          <a:p>
            <a:r>
              <a:rPr dirty="0"/>
              <a:t>PAC Learning: Probably Approximately Correct.</a:t>
            </a:r>
          </a:p>
          <a:p>
            <a:r>
              <a:rPr dirty="0"/>
              <a:t>Defining "Success": With high probability, the error is low.      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 Learning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"Probably": Confidence ($1 - \delta$).</a:t>
            </a:r>
          </a:p>
          <a:p>
            <a:r>
              <a:rPr dirty="0"/>
              <a:t>"Approximately": Error rate ($\epsilon$).</a:t>
            </a:r>
          </a:p>
          <a:p>
            <a:r>
              <a:rPr dirty="0"/>
              <a:t>Sample Complexity: How many examples are needed to be PAC?</a:t>
            </a:r>
          </a:p>
          <a:p>
            <a:r>
              <a:rPr dirty="0"/>
              <a:t>Usually grows with $1/\epsilon$ and $1/\delta$.      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VC Dimension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Measures the capacity (expressiveness) of a model class.</a:t>
            </a:r>
          </a:p>
          <a:p>
            <a:r>
              <a:rPr dirty="0"/>
              <a:t>Number of points that can be "shattered" by the model.</a:t>
            </a:r>
          </a:p>
          <a:p>
            <a:r>
              <a:rPr dirty="0"/>
              <a:t>Higher VC = Higher risk of overfitting.</a:t>
            </a:r>
          </a:p>
          <a:p>
            <a:r>
              <a:rPr dirty="0"/>
              <a:t>Linear classifiers in 2D have VC = 3.  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Beyond Accuracy: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 can be lying to you.</a:t>
            </a:r>
          </a:p>
          <a:p>
            <a:r>
              <a:rPr dirty="0"/>
              <a:t>The Imbalanced Class Problem (e.g., Rare disease).</a:t>
            </a:r>
          </a:p>
          <a:p>
            <a:r>
              <a:rPr dirty="0"/>
              <a:t>Accuracy = (TP + TN) / Total.</a:t>
            </a:r>
          </a:p>
          <a:p>
            <a:r>
              <a:rPr dirty="0"/>
              <a:t>We need more granular tools.     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True Positive (TP): Correctly identified.</a:t>
            </a:r>
          </a:p>
          <a:p>
            <a:r>
              <a:rPr dirty="0"/>
              <a:t>True Negative (TN): Correctly rejected.</a:t>
            </a:r>
          </a:p>
          <a:p>
            <a:r>
              <a:rPr dirty="0"/>
              <a:t>False Positive (FP): Type I Error (False Alarm).</a:t>
            </a:r>
          </a:p>
          <a:p>
            <a:r>
              <a:rPr dirty="0"/>
              <a:t>False Negative (FN): Type II Error (Missed).    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Precision = TP / (TP + FP).</a:t>
            </a:r>
          </a:p>
          <a:p>
            <a:r>
              <a:rPr dirty="0"/>
              <a:t>"Of all the ones I said were positive, how many were actually positive?"</a:t>
            </a:r>
          </a:p>
          <a:p>
            <a:r>
              <a:rPr dirty="0"/>
              <a:t>Critical for: Search results, criminal convictions.</a:t>
            </a:r>
          </a:p>
          <a:p>
            <a:r>
              <a:rPr dirty="0"/>
              <a:t>Avoiding "False Alarms."      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 (Sensitivity)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Recall = TP / (TP + FN).</a:t>
            </a:r>
          </a:p>
          <a:p>
            <a:r>
              <a:rPr dirty="0"/>
              <a:t>"Of all the actual positives out there, how many did I find?"</a:t>
            </a:r>
          </a:p>
          <a:p>
            <a:r>
              <a:rPr dirty="0"/>
              <a:t>Critical for: Cancer diagnosis, airport security.</a:t>
            </a:r>
          </a:p>
          <a:p>
            <a:r>
              <a:rPr dirty="0"/>
              <a:t>Avoiding "Misses."       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Precision-Recall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Increasing one usually decreases the other.</a:t>
            </a:r>
          </a:p>
          <a:p>
            <a:r>
              <a:rPr dirty="0"/>
              <a:t>F1-Score: The harmonic mean of Precision and Recall.</a:t>
            </a:r>
          </a:p>
          <a:p>
            <a:r>
              <a:rPr dirty="0"/>
              <a:t>F1 balances the two into a single number.</a:t>
            </a:r>
          </a:p>
          <a:p>
            <a:r>
              <a:rPr dirty="0"/>
              <a:t>Use F1 when you want to punish "lazy" accuracy.      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Specificity and False Positive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Specificity = TN / (TN + FP).</a:t>
            </a:r>
          </a:p>
          <a:p>
            <a:r>
              <a:rPr dirty="0"/>
              <a:t>"True Negative Rate."</a:t>
            </a:r>
          </a:p>
          <a:p>
            <a:r>
              <a:rPr dirty="0"/>
              <a:t>FPR = 1 - Specificity.</a:t>
            </a:r>
          </a:p>
          <a:p>
            <a:r>
              <a:rPr dirty="0"/>
              <a:t>Crucial for medical tests to ensure healthy people aren't treated.      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Curves and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Receiver Operating Characteristic.</a:t>
            </a:r>
          </a:p>
          <a:p>
            <a:r>
              <a:rPr dirty="0"/>
              <a:t>Plotting TPR (Recall) vs. FPR.</a:t>
            </a:r>
          </a:p>
          <a:p>
            <a:r>
              <a:rPr dirty="0"/>
              <a:t>AUC (Area Under the Curve): A single score for model quality.</a:t>
            </a:r>
          </a:p>
          <a:p>
            <a:r>
              <a:rPr dirty="0"/>
              <a:t>0.5 = Random Guessing; 1.0 = Perfection.       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Cost-Sensitive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dirty="0"/>
              <a:t>ot all errors are equal.</a:t>
            </a:r>
          </a:p>
          <a:p>
            <a:r>
              <a:rPr dirty="0"/>
              <a:t>FP (False Alarm) cost: Time/Annoyance.</a:t>
            </a:r>
          </a:p>
          <a:p>
            <a:r>
              <a:rPr dirty="0"/>
              <a:t>FN (Miss) cost: Loss of life/Revenue.</a:t>
            </a:r>
          </a:p>
          <a:p>
            <a:r>
              <a:rPr dirty="0"/>
              <a:t>We can adjust thresholds based on the "Cost" of being wrong.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Define the Metric (F1, AUC, or Accuracy).</a:t>
            </a:r>
          </a:p>
          <a:p>
            <a:pPr marL="0" indent="0">
              <a:buNone/>
            </a:pPr>
            <a:r>
              <a:rPr dirty="0"/>
              <a:t>2. Set aside the Test Set (Untouchable).</a:t>
            </a:r>
          </a:p>
          <a:p>
            <a:pPr marL="0" indent="0">
              <a:buNone/>
            </a:pPr>
            <a:r>
              <a:rPr dirty="0"/>
              <a:t>3. Perform K-Fold CV on Training data.</a:t>
            </a:r>
          </a:p>
          <a:p>
            <a:pPr marL="0" indent="0">
              <a:buNone/>
            </a:pPr>
            <a:r>
              <a:rPr dirty="0"/>
              <a:t>4. Choose the best Hyperparameters.       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Hyperparameters vs.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Parameters: Weights learned by the machine (e.g., Tree splits).</a:t>
            </a:r>
          </a:p>
          <a:p>
            <a:r>
              <a:rPr dirty="0"/>
              <a:t>Hyperparameters: Choices made by the designer (e.g., Tree Depth).</a:t>
            </a:r>
          </a:p>
          <a:p>
            <a:r>
              <a:rPr dirty="0"/>
              <a:t>We tune hyperparameters to find the Bias-Variance balance.</a:t>
            </a:r>
          </a:p>
          <a:p>
            <a:r>
              <a:rPr dirty="0"/>
              <a:t>Grid Search vs. Random Search.       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Methods (Preview)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Bagging (Random Forests): Parallel models reduce Variance.</a:t>
            </a:r>
          </a:p>
          <a:p>
            <a:r>
              <a:rPr dirty="0"/>
              <a:t>Boosting (AdaBoost): Sequential models reduce Bias.</a:t>
            </a:r>
          </a:p>
          <a:p>
            <a:r>
              <a:rPr dirty="0"/>
              <a:t>Why Ensembles are the current "Industry Secret."</a:t>
            </a:r>
          </a:p>
          <a:p>
            <a:r>
              <a:rPr dirty="0"/>
              <a:t>Voting among experts beats a single guru.      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Ethics: Bias in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model can have 98% accuracy but 0% accuracy for a subgroup.</a:t>
            </a:r>
          </a:p>
          <a:p>
            <a:r>
              <a:rPr dirty="0"/>
              <a:t>Fairness through Awareness: Monitoring subgroup metrics.</a:t>
            </a:r>
          </a:p>
          <a:p>
            <a:r>
              <a:rPr dirty="0"/>
              <a:t>Evaluation isn't just about "Performance"—it's about "Impact."</a:t>
            </a:r>
          </a:p>
          <a:p>
            <a:r>
              <a:rPr dirty="0"/>
              <a:t>Case Study: Bias in hiring or bail algorithms.       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19.3-19.5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Pruning prevents overfitting in trees.</a:t>
            </a:r>
          </a:p>
          <a:p>
            <a:r>
              <a:rPr dirty="0"/>
              <a:t>K-Fold Cross-Validation is the gold standard for evaluation.</a:t>
            </a:r>
          </a:p>
          <a:p>
            <a:r>
              <a:rPr dirty="0"/>
              <a:t>Bias-Variance Tradeoff is the fundamental ML challenge.</a:t>
            </a:r>
          </a:p>
          <a:p>
            <a:r>
              <a:rPr dirty="0"/>
              <a:t>Metrics must be chosen based on the cost of errors.      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Homework: Week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Compute a Confusion Matrix for the 'Spam' dataset provided.</a:t>
            </a:r>
          </a:p>
          <a:p>
            <a:pPr marL="0" indent="0">
              <a:buNone/>
            </a:pPr>
            <a:r>
              <a:rPr dirty="0"/>
              <a:t>2. Calculate Precision, Recall, and F1 for that matrix.</a:t>
            </a:r>
          </a:p>
          <a:p>
            <a:pPr marL="0" indent="0">
              <a:buNone/>
            </a:pPr>
            <a:r>
              <a:rPr dirty="0"/>
              <a:t>3. Identify if your model is Overfitting based on the provided curves.       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Road to 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We've seen Logic (Search), Probability, and Logic-Learning (Trees).</a:t>
            </a:r>
          </a:p>
          <a:p>
            <a:r>
              <a:rPr dirty="0"/>
              <a:t>Next: Learning as Continuous Function Approximation.</a:t>
            </a:r>
          </a:p>
          <a:p>
            <a:r>
              <a:rPr dirty="0"/>
              <a:t>We will move from discrete paths to layered gradients.</a:t>
            </a:r>
          </a:p>
          <a:p>
            <a:r>
              <a:rPr dirty="0"/>
              <a:t>Bring your math caps next week!       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Prep: Scikit-Learn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Ensure you have `scikit-learn` installed.</a:t>
            </a:r>
          </a:p>
          <a:p>
            <a:r>
              <a:rPr dirty="0"/>
              <a:t>We will implement `</a:t>
            </a:r>
            <a:r>
              <a:rPr dirty="0" err="1"/>
              <a:t>DecisionTreeClassifier</a:t>
            </a:r>
            <a:r>
              <a:rPr dirty="0"/>
              <a:t>`.</a:t>
            </a:r>
          </a:p>
          <a:p>
            <a:r>
              <a:rPr dirty="0"/>
              <a:t>We will perform a `</a:t>
            </a:r>
            <a:r>
              <a:rPr dirty="0" err="1"/>
              <a:t>GridSearchCV</a:t>
            </a:r>
            <a:r>
              <a:rPr dirty="0"/>
              <a:t>` for hyperparameter tuning.</a:t>
            </a:r>
          </a:p>
          <a:p>
            <a:r>
              <a:rPr dirty="0"/>
              <a:t>This is the workflow you'll use in your final project.       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Midterm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General performance trends.</a:t>
            </a:r>
          </a:p>
          <a:p>
            <a:r>
              <a:rPr dirty="0"/>
              <a:t>Common misconceptions in Search vs. Probability.</a:t>
            </a:r>
          </a:p>
          <a:p>
            <a:r>
              <a:rPr dirty="0"/>
              <a:t>How ML will build on these foundations.</a:t>
            </a:r>
          </a:p>
          <a:p>
            <a:r>
              <a:rPr dirty="0"/>
              <a:t>Questions?       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Dismissal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ML is as much about 'Evaluation' as it is 'Algorithms'.</a:t>
            </a:r>
          </a:p>
          <a:p>
            <a:r>
              <a:rPr dirty="0"/>
              <a:t>Don't trust accuracy until you see the test </a:t>
            </a:r>
            <a:r>
              <a:t>set.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17518</TotalTime>
  <Words>2628</Words>
  <Application>Microsoft Macintosh PowerPoint</Application>
  <PresentationFormat>On-screen Show (4:3)</PresentationFormat>
  <Paragraphs>242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1_Office Theme</vt:lpstr>
      <vt:lpstr>CPSC 481 Artificial Intelligence</vt:lpstr>
      <vt:lpstr>Week 9: Supervised Learning &amp; Evaluation</vt:lpstr>
      <vt:lpstr>Week 9 Roadmap</vt:lpstr>
      <vt:lpstr>Recap: The Goal of Supervised Learning</vt:lpstr>
      <vt:lpstr>Section 19.3: Optimizing Decision Trees</vt:lpstr>
      <vt:lpstr>The Problem with Many-Valued Attributes</vt:lpstr>
      <vt:lpstr>Gain Ratio</vt:lpstr>
      <vt:lpstr>Handling Missing Values (In Training)</vt:lpstr>
      <vt:lpstr>Continuous-Valued Attributes</vt:lpstr>
      <vt:lpstr>Tree Pruning Revisited</vt:lpstr>
      <vt:lpstr>Rule Post-Pruning</vt:lpstr>
      <vt:lpstr>Section 19.4: Evaluating Performance</vt:lpstr>
      <vt:lpstr>The Validation Set</vt:lpstr>
      <vt:lpstr>K-Fold Cross-Validation</vt:lpstr>
      <vt:lpstr>Leave-One-Out Cross-Validation (LOOCV)</vt:lpstr>
      <vt:lpstr>The Bias-Variance Tradeoff</vt:lpstr>
      <vt:lpstr>Visualizing Bias vs. Variance</vt:lpstr>
      <vt:lpstr>Underfitting (High Bias)</vt:lpstr>
      <vt:lpstr>Overfitting (High Variance)</vt:lpstr>
      <vt:lpstr>Learning Curves: Diagnostics</vt:lpstr>
      <vt:lpstr>Section 19.5: Theory of Learning</vt:lpstr>
      <vt:lpstr>PAC Learning Framework</vt:lpstr>
      <vt:lpstr>VC Dimension</vt:lpstr>
      <vt:lpstr>Beyond Accuracy: Performance Metrics</vt:lpstr>
      <vt:lpstr>The Confusion Matrix</vt:lpstr>
      <vt:lpstr>Precision</vt:lpstr>
      <vt:lpstr>Recall (Sensitivity)</vt:lpstr>
      <vt:lpstr>The Precision-Recall Tradeoff</vt:lpstr>
      <vt:lpstr>Specificity and False Positive Rate</vt:lpstr>
      <vt:lpstr>ROC Curves and AUC</vt:lpstr>
      <vt:lpstr>Cost-Sensitive Learning</vt:lpstr>
      <vt:lpstr>Model Selection Methodology</vt:lpstr>
      <vt:lpstr>Hyperparameters vs. Parameters</vt:lpstr>
      <vt:lpstr>Ensemble Methods (Preview)</vt:lpstr>
      <vt:lpstr>Ethics: Bias in Evaluation</vt:lpstr>
      <vt:lpstr>Section 19.3-19.5 Summary</vt:lpstr>
      <vt:lpstr>Homework: Week 9</vt:lpstr>
      <vt:lpstr>The Road to Neural Networks</vt:lpstr>
      <vt:lpstr>Lab Prep: Scikit-Learn</vt:lpstr>
      <vt:lpstr>Review: Midterm Feedback</vt:lpstr>
      <vt:lpstr>Conclusion &amp; Dismissal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Chekuri, Chuck</cp:lastModifiedBy>
  <cp:revision>17</cp:revision>
  <dcterms:created xsi:type="dcterms:W3CDTF">2013-01-27T09:14:16Z</dcterms:created>
  <dcterms:modified xsi:type="dcterms:W3CDTF">2026-03-09T21:25:17Z</dcterms:modified>
  <cp:category/>
</cp:coreProperties>
</file>